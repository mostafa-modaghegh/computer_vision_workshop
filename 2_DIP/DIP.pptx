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3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3" r:id="rId37"/>
    <p:sldId id="291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2" r:id="rId47"/>
    <p:sldId id="301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451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450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AB27-24BC-6AC2-21C2-700AB317D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B32EF-0D9E-34E1-CFA9-2965F5976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FC5D5-081E-4017-52C1-898A0514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0E31-1D65-DC83-EE68-5149E56C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CFA46-5D87-38F9-8F5D-6A05853D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56EB-54BF-CCC4-A6B0-608CE15A3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22ED-475E-2BDB-5103-5B59E5B82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65D06-DB58-6B77-FC17-28AB67CF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E5577-296F-DC05-0667-1DFA2DEF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A99F0-9333-7443-85F9-DAD4EE32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4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ACB05-5803-C798-9A29-F9B63580A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28AE7-D071-CEA9-29DC-B0CDC2A9E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8A963-1C75-32EC-38C8-08C203F7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4EEDF-1C4A-7F97-B08E-E26DACB0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EAD98-7AC2-B3FD-6BBA-9CF508D2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7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5978-7385-C30B-78DE-7094377D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C6930-AA47-EDDA-84ED-650C0AE81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BBDCD-C3F8-81AC-4AD3-B30C801E0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AED82-BA86-473A-00FD-DC7BFCF5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E9C87-4834-A472-252F-CA72B251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674EF-5E97-B76D-BC2A-97C856AE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3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A7AC-690C-C80E-4842-EBF346117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CF1C7-FF79-C914-07A8-0EE85C5B1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6FFE3-1CE8-2B8E-4231-E769513E3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F7E7-2D7D-E12C-3ACC-08056E258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546EC-5B06-7E4D-54DA-B32FEDE39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6A55A-98A6-1D16-B57B-B65F866D2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9F0F1-2A88-E34B-1E2B-1231B9B6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1A7DB-C303-A536-4923-F4532066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9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A44D-AD23-5E21-5911-1FA9140A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5E19D-78B8-DD0A-14B3-9D8AB573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3B5D8-07CE-7213-FE83-F6E428BE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8E757-1D6D-3CF7-0814-F4421C96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80D2B-45A4-01A0-0A5E-2BF689CB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1AD5C-0614-4216-E2DE-F819D675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DFFD5-CFF4-965F-A30A-51E5E7B1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5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0290-F8FA-38D1-7C42-331BCD01F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9F30B-AB14-EC89-64FE-FE42C1C9D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ECDA0-4D20-ADDA-2526-4EF7DF885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AF88D-5307-2F2C-B0F0-9FCBDC45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4DAC4-6AE3-797E-E56E-BA4900AE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64014-AAF8-1B76-0526-0B9F17F3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2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A7B4-2536-DFC7-1645-A4D24BAF0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CA89B-EA6F-FB2A-39E1-8C012B3D64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85AA8-6591-E735-0FCE-5C9C186A6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5B643-E2AE-FB5F-B73E-66CD5A9E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ECD0C-A74E-665B-16B0-B0FD4BD85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03690-03B7-0729-F604-9861E142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5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BBE3-40BB-F75C-CEF6-7B8F5F969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51045-6389-E37D-5EEE-77619DE58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110BC-6D24-1592-DB05-A781BA0C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CE886-0EB1-BBE6-432F-2DC285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FD7C9-CBCF-2F42-13CD-6D349CBE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8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CDF68-8DEE-296B-23C5-11CCFB1B8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7D0E0-F070-BAC5-0BD9-9BD32BD59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A2572-0F73-41E3-6B30-BF4E6E14CC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16FE2-3D0C-4B67-897D-512D5818A65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5A9D0-147D-BB90-98F0-FE8C8DA9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E3934-1929-A3B6-37CB-EF0B474E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1B6FE0-856E-4033-87C1-E9ED63CB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8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3535680" y="1738212"/>
            <a:ext cx="512064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55876209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with text on it&#10;&#10;AI-generated content may be incorrect.">
            <a:extLst>
              <a:ext uri="{FF2B5EF4-FFF2-40B4-BE49-F238E27FC236}">
                <a16:creationId xmlns:a16="http://schemas.microsoft.com/office/drawing/2014/main" id="{A0078773-6763-60AC-018F-8991C1CD4F4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634" y="6234393"/>
            <a:ext cx="544749" cy="5447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70E02B-89FE-2B09-0784-F48949095BD7}"/>
              </a:ext>
            </a:extLst>
          </p:cNvPr>
          <p:cNvSpPr txBox="1"/>
          <p:nvPr userDrawn="1"/>
        </p:nvSpPr>
        <p:spPr>
          <a:xfrm>
            <a:off x="9941669" y="6255922"/>
            <a:ext cx="2101174" cy="5232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pitchFamily="66" charset="0"/>
                <a:cs typeface="Mongolian Baiti" panose="03000500000000000000" pitchFamily="66" charset="0"/>
              </a:rPr>
              <a:t>S.M </a:t>
            </a:r>
            <a:r>
              <a:rPr lang="en-US" sz="1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pitchFamily="66" charset="0"/>
                <a:cs typeface="Mongolian Baiti" panose="03000500000000000000" pitchFamily="66" charset="0"/>
              </a:rPr>
              <a:t>Modaghegh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otype Corsiva" panose="03010101010201010101" pitchFamily="66" charset="0"/>
              <a:cs typeface="Mongolian Baiti" panose="03000500000000000000" pitchFamily="66" charset="0"/>
            </a:endParaRPr>
          </a:p>
          <a:p>
            <a:pPr algn="l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type Corsiva" panose="03010101010201010101" pitchFamily="66" charset="0"/>
                <a:cs typeface="Mongolian Baiti" panose="03000500000000000000" pitchFamily="66" charset="0"/>
              </a:rPr>
              <a:t>Vision Workshop</a:t>
            </a:r>
          </a:p>
        </p:txBody>
      </p:sp>
    </p:spTree>
    <p:extLst>
      <p:ext uri="{BB962C8B-B14F-4D97-AF65-F5344CB8AC3E}">
        <p14:creationId xmlns:p14="http://schemas.microsoft.com/office/powerpoint/2010/main" val="362857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3.jpeg"/><Relationship Id="rId5" Type="http://schemas.openxmlformats.org/officeDocument/2006/relationships/image" Target="../media/image82.png"/><Relationship Id="rId4" Type="http://schemas.openxmlformats.org/officeDocument/2006/relationships/image" Target="../media/image8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618184-E0CD-5C7F-9B3D-465594B42985}"/>
              </a:ext>
            </a:extLst>
          </p:cNvPr>
          <p:cNvSpPr/>
          <p:nvPr/>
        </p:nvSpPr>
        <p:spPr>
          <a:xfrm>
            <a:off x="9922211" y="6225758"/>
            <a:ext cx="2198453" cy="56420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with text on it&#10;&#10;AI-generated content may be incorrect.">
            <a:extLst>
              <a:ext uri="{FF2B5EF4-FFF2-40B4-BE49-F238E27FC236}">
                <a16:creationId xmlns:a16="http://schemas.microsoft.com/office/drawing/2014/main" id="{C5350312-3EEF-A89E-5F8F-BC42121DCD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71" y="5273086"/>
            <a:ext cx="884683" cy="884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D246D2-630E-9C53-071A-8A64501EABDD}"/>
              </a:ext>
            </a:extLst>
          </p:cNvPr>
          <p:cNvSpPr txBox="1"/>
          <p:nvPr/>
        </p:nvSpPr>
        <p:spPr>
          <a:xfrm>
            <a:off x="7566412" y="5302428"/>
            <a:ext cx="3064744" cy="92333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Sayed Mostafa </a:t>
            </a:r>
            <a:r>
              <a:rPr lang="en-US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Modaqeq</a:t>
            </a:r>
            <a:endParaRPr lang="en-US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en-US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Gharjistan</a:t>
            </a:r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University</a:t>
            </a:r>
          </a:p>
          <a:p>
            <a:pPr algn="ctr"/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Computer Vision Workshop</a:t>
            </a:r>
          </a:p>
        </p:txBody>
      </p:sp>
    </p:spTree>
    <p:extLst>
      <p:ext uri="{BB962C8B-B14F-4D97-AF65-F5344CB8AC3E}">
        <p14:creationId xmlns:p14="http://schemas.microsoft.com/office/powerpoint/2010/main" val="150812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4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7609-D14A-25C9-9122-D5A2F148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87" y="165370"/>
            <a:ext cx="10202694" cy="1186775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An image is a two-dimensional (2D) representation</a:t>
            </a:r>
            <a:br>
              <a:rPr lang="en-US" sz="2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of a three-dimensional (3D) scene or reality.</a:t>
            </a:r>
          </a:p>
        </p:txBody>
      </p:sp>
    </p:spTree>
    <p:extLst>
      <p:ext uri="{BB962C8B-B14F-4D97-AF65-F5344CB8AC3E}">
        <p14:creationId xmlns:p14="http://schemas.microsoft.com/office/powerpoint/2010/main" val="36684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thematical equation">
            <a:extLst>
              <a:ext uri="{FF2B5EF4-FFF2-40B4-BE49-F238E27FC236}">
                <a16:creationId xmlns:a16="http://schemas.microsoft.com/office/drawing/2014/main" id="{A1A35F7B-00CC-817B-0C16-39C98596C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596" y="435025"/>
            <a:ext cx="8185653" cy="547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8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rossword puzzle with text">
            <a:extLst>
              <a:ext uri="{FF2B5EF4-FFF2-40B4-BE49-F238E27FC236}">
                <a16:creationId xmlns:a16="http://schemas.microsoft.com/office/drawing/2014/main" id="{BE301EC9-425D-8CBA-0FAD-0FA6D7847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125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heart and binary code">
            <a:extLst>
              <a:ext uri="{FF2B5EF4-FFF2-40B4-BE49-F238E27FC236}">
                <a16:creationId xmlns:a16="http://schemas.microsoft.com/office/drawing/2014/main" id="{7A09D495-737B-A5E4-FFF0-F3ED6D160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5344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D86E-D77C-A751-98CF-EB95B545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Basic types of images</a:t>
            </a:r>
          </a:p>
        </p:txBody>
      </p:sp>
    </p:spTree>
    <p:extLst>
      <p:ext uri="{BB962C8B-B14F-4D97-AF65-F5344CB8AC3E}">
        <p14:creationId xmlns:p14="http://schemas.microsoft.com/office/powerpoint/2010/main" val="97041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binary image&#10;&#10;AI-generated content may be incorrect.">
            <a:extLst>
              <a:ext uri="{FF2B5EF4-FFF2-40B4-BE49-F238E27FC236}">
                <a16:creationId xmlns:a16="http://schemas.microsoft.com/office/drawing/2014/main" id="{C2931FBD-C38F-D171-6084-9636DF59D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45" y="1460129"/>
            <a:ext cx="6390967" cy="3195484"/>
          </a:xfrm>
        </p:spPr>
      </p:pic>
      <p:pic>
        <p:nvPicPr>
          <p:cNvPr id="11" name="Picture 10" descr="A person with a white hat&#10;&#10;AI-generated content may be incorrect.">
            <a:extLst>
              <a:ext uri="{FF2B5EF4-FFF2-40B4-BE49-F238E27FC236}">
                <a16:creationId xmlns:a16="http://schemas.microsoft.com/office/drawing/2014/main" id="{4B7777DF-173E-391C-E6F2-E5254817E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829" y="802904"/>
            <a:ext cx="4912096" cy="49120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5F6C7E-4184-2049-F7AB-F74430A2D0AC}"/>
              </a:ext>
            </a:extLst>
          </p:cNvPr>
          <p:cNvSpPr/>
          <p:nvPr/>
        </p:nvSpPr>
        <p:spPr>
          <a:xfrm>
            <a:off x="5743575" y="1543050"/>
            <a:ext cx="70485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8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0090C-A13B-00D9-0F81-621D7A4B0D6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Grayscale Image</a:t>
            </a:r>
          </a:p>
        </p:txBody>
      </p:sp>
      <p:pic>
        <p:nvPicPr>
          <p:cNvPr id="5" name="Picture 4" descr="A black and white image of a person's head">
            <a:extLst>
              <a:ext uri="{FF2B5EF4-FFF2-40B4-BE49-F238E27FC236}">
                <a16:creationId xmlns:a16="http://schemas.microsoft.com/office/drawing/2014/main" id="{03C3D9E7-FA1C-1FDE-9122-BF6FF6279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96" y="2032541"/>
            <a:ext cx="11181725" cy="412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number and array">
            <a:extLst>
              <a:ext uri="{FF2B5EF4-FFF2-40B4-BE49-F238E27FC236}">
                <a16:creationId xmlns:a16="http://schemas.microsoft.com/office/drawing/2014/main" id="{F0E6B3D7-58BF-7D06-464D-B2616ADD0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06" y="514350"/>
            <a:ext cx="10385487" cy="5343525"/>
          </a:xfrm>
          <a:solidFill>
            <a:schemeClr val="tx1">
              <a:lumMod val="50000"/>
              <a:lumOff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80402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game">
            <a:extLst>
              <a:ext uri="{FF2B5EF4-FFF2-40B4-BE49-F238E27FC236}">
                <a16:creationId xmlns:a16="http://schemas.microsoft.com/office/drawing/2014/main" id="{CEBA317D-8195-F1A1-903F-9420B82D4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040" y="1495425"/>
            <a:ext cx="9539250" cy="46005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1CB09-D438-056F-649A-F42DB0887977}"/>
              </a:ext>
            </a:extLst>
          </p:cNvPr>
          <p:cNvSpPr txBox="1"/>
          <p:nvPr/>
        </p:nvSpPr>
        <p:spPr>
          <a:xfrm>
            <a:off x="3764315" y="345043"/>
            <a:ext cx="4838700" cy="52322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Color Image (RGB)</a:t>
            </a:r>
          </a:p>
        </p:txBody>
      </p:sp>
    </p:spTree>
    <p:extLst>
      <p:ext uri="{BB962C8B-B14F-4D97-AF65-F5344CB8AC3E}">
        <p14:creationId xmlns:p14="http://schemas.microsoft.com/office/powerpoint/2010/main" val="386665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wearing a hat">
            <a:extLst>
              <a:ext uri="{FF2B5EF4-FFF2-40B4-BE49-F238E27FC236}">
                <a16:creationId xmlns:a16="http://schemas.microsoft.com/office/drawing/2014/main" id="{AC02277C-B86F-1979-E7C4-EE0122052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00" y="1100138"/>
            <a:ext cx="9803199" cy="4028281"/>
          </a:xfrm>
        </p:spPr>
      </p:pic>
    </p:spTree>
    <p:extLst>
      <p:ext uri="{BB962C8B-B14F-4D97-AF65-F5344CB8AC3E}">
        <p14:creationId xmlns:p14="http://schemas.microsoft.com/office/powerpoint/2010/main" val="365102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cube with white text">
            <a:extLst>
              <a:ext uri="{FF2B5EF4-FFF2-40B4-BE49-F238E27FC236}">
                <a16:creationId xmlns:a16="http://schemas.microsoft.com/office/drawing/2014/main" id="{F844A56F-7234-B06B-E4F0-90574B94C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9" y="826293"/>
            <a:ext cx="8080551" cy="520541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D9AC30-3C26-2B11-64D6-66D590228D7F}"/>
              </a:ext>
            </a:extLst>
          </p:cNvPr>
          <p:cNvSpPr txBox="1"/>
          <p:nvPr/>
        </p:nvSpPr>
        <p:spPr>
          <a:xfrm>
            <a:off x="7620000" y="1967210"/>
            <a:ext cx="4371976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>
                <a:ln/>
                <a:solidFill>
                  <a:schemeClr val="accent3"/>
                </a:solidFill>
              </a:rPr>
              <a:t>Rows = Height</a:t>
            </a:r>
          </a:p>
          <a:p>
            <a:pPr algn="ctr"/>
            <a:r>
              <a:rPr lang="en-US" sz="2400" b="1" dirty="0">
                <a:ln/>
                <a:solidFill>
                  <a:schemeClr val="accent3"/>
                </a:solidFill>
              </a:rPr>
              <a:t>Columns = Width</a:t>
            </a:r>
          </a:p>
          <a:p>
            <a:pPr algn="ctr"/>
            <a:r>
              <a:rPr lang="en-US" sz="2400" b="1" dirty="0">
                <a:ln/>
                <a:solidFill>
                  <a:schemeClr val="accent3"/>
                </a:solidFill>
              </a:rPr>
              <a:t>Layers = Depth or Channel</a:t>
            </a:r>
          </a:p>
        </p:txBody>
      </p:sp>
    </p:spTree>
    <p:extLst>
      <p:ext uri="{BB962C8B-B14F-4D97-AF65-F5344CB8AC3E}">
        <p14:creationId xmlns:p14="http://schemas.microsoft.com/office/powerpoint/2010/main" val="231589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ube with text">
            <a:extLst>
              <a:ext uri="{FF2B5EF4-FFF2-40B4-BE49-F238E27FC236}">
                <a16:creationId xmlns:a16="http://schemas.microsoft.com/office/drawing/2014/main" id="{25B4AAF8-4FEA-9A4B-6AAD-77927A1BE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834" y="761206"/>
            <a:ext cx="9817355" cy="5144294"/>
          </a:xfrm>
        </p:spPr>
      </p:pic>
    </p:spTree>
    <p:extLst>
      <p:ext uri="{BB962C8B-B14F-4D97-AF65-F5344CB8AC3E}">
        <p14:creationId xmlns:p14="http://schemas.microsoft.com/office/powerpoint/2010/main" val="36280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9861-BD45-FE61-5453-F956A1423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RGB to Grayscale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CF456B-C6F3-865F-5925-3286B0F82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721" y="1690688"/>
            <a:ext cx="5974557" cy="4153968"/>
          </a:xfrm>
        </p:spPr>
      </p:pic>
    </p:spTree>
    <p:extLst>
      <p:ext uri="{BB962C8B-B14F-4D97-AF65-F5344CB8AC3E}">
        <p14:creationId xmlns:p14="http://schemas.microsoft.com/office/powerpoint/2010/main" val="353684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0D9B-D9AE-84EE-F15A-1CCD4024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n aerial view of a city">
            <a:extLst>
              <a:ext uri="{FF2B5EF4-FFF2-40B4-BE49-F238E27FC236}">
                <a16:creationId xmlns:a16="http://schemas.microsoft.com/office/drawing/2014/main" id="{B7603B34-7A29-E77A-08A3-92563CB16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0780"/>
          </a:xfrm>
        </p:spPr>
      </p:pic>
    </p:spTree>
    <p:extLst>
      <p:ext uri="{BB962C8B-B14F-4D97-AF65-F5344CB8AC3E}">
        <p14:creationId xmlns:p14="http://schemas.microsoft.com/office/powerpoint/2010/main" val="274849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9101-0CAA-D175-B4A1-E155ECAA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e and white page with text&#10;&#10;AI-generated content may be incorrect.">
            <a:extLst>
              <a:ext uri="{FF2B5EF4-FFF2-40B4-BE49-F238E27FC236}">
                <a16:creationId xmlns:a16="http://schemas.microsoft.com/office/drawing/2014/main" id="{5BA2E5BD-3067-6DD2-FC82-244BAA1FE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1" y="-1"/>
            <a:ext cx="12211051" cy="685800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118861-6679-7A7E-5F98-B6D1576CB769}"/>
              </a:ext>
            </a:extLst>
          </p:cNvPr>
          <p:cNvSpPr txBox="1"/>
          <p:nvPr/>
        </p:nvSpPr>
        <p:spPr>
          <a:xfrm>
            <a:off x="2171700" y="4711987"/>
            <a:ext cx="3048000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Problems</a:t>
            </a:r>
            <a:endParaRPr lang="en-US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DE3FC88B-0ED5-F8DE-8A4C-0CD30E6E7261}"/>
              </a:ext>
            </a:extLst>
          </p:cNvPr>
          <p:cNvSpPr/>
          <p:nvPr/>
        </p:nvSpPr>
        <p:spPr>
          <a:xfrm>
            <a:off x="4772025" y="3743326"/>
            <a:ext cx="1162049" cy="258127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44158-865B-D4F3-388D-24F738668120}"/>
              </a:ext>
            </a:extLst>
          </p:cNvPr>
          <p:cNvSpPr txBox="1"/>
          <p:nvPr/>
        </p:nvSpPr>
        <p:spPr>
          <a:xfrm>
            <a:off x="6257928" y="3756690"/>
            <a:ext cx="53054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_Poor contrast</a:t>
            </a:r>
          </a:p>
          <a:p>
            <a:endParaRPr lang="en-US" sz="3200" dirty="0"/>
          </a:p>
          <a:p>
            <a:r>
              <a:rPr lang="en-US" sz="3200" dirty="0"/>
              <a:t>_Noisy</a:t>
            </a:r>
          </a:p>
          <a:p>
            <a:endParaRPr lang="en-US" sz="3200" dirty="0"/>
          </a:p>
          <a:p>
            <a:r>
              <a:rPr lang="en-US" sz="3200" dirty="0"/>
              <a:t>_Wrong size and shape</a:t>
            </a:r>
          </a:p>
        </p:txBody>
      </p:sp>
    </p:spTree>
    <p:extLst>
      <p:ext uri="{BB962C8B-B14F-4D97-AF65-F5344CB8AC3E}">
        <p14:creationId xmlns:p14="http://schemas.microsoft.com/office/powerpoint/2010/main" val="3657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21DB-22C0-FA1E-5C69-E98AAFFB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e eyeball with a circuit board and white text">
            <a:extLst>
              <a:ext uri="{FF2B5EF4-FFF2-40B4-BE49-F238E27FC236}">
                <a16:creationId xmlns:a16="http://schemas.microsoft.com/office/drawing/2014/main" id="{3A4A93FF-8CDA-F84F-5149-10A0CA0BB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2459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E601-A28C-1F30-7030-5EFDDC88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118" y="384176"/>
            <a:ext cx="6481764" cy="1187450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Contrast Enhancement</a:t>
            </a:r>
          </a:p>
        </p:txBody>
      </p:sp>
      <p:pic>
        <p:nvPicPr>
          <p:cNvPr id="5" name="Content Placeholder 4" descr="A comparison of a color change&#10;&#10;AI-generated content may be incorrect.">
            <a:extLst>
              <a:ext uri="{FF2B5EF4-FFF2-40B4-BE49-F238E27FC236}">
                <a16:creationId xmlns:a16="http://schemas.microsoft.com/office/drawing/2014/main" id="{1478AFD4-36FC-4CF4-4340-B7C627F4A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892" y="1825625"/>
            <a:ext cx="8146215" cy="4351338"/>
          </a:xfrm>
        </p:spPr>
      </p:pic>
    </p:spTree>
    <p:extLst>
      <p:ext uri="{BB962C8B-B14F-4D97-AF65-F5344CB8AC3E}">
        <p14:creationId xmlns:p14="http://schemas.microsoft.com/office/powerpoint/2010/main" val="38896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8E9B-8EB1-BA27-64E5-9803BCE8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736" y="812007"/>
            <a:ext cx="3438525" cy="1233488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Denoising</a:t>
            </a:r>
          </a:p>
        </p:txBody>
      </p:sp>
      <p:pic>
        <p:nvPicPr>
          <p:cNvPr id="5" name="Content Placeholder 4" descr="A person in a suit leaning on a camera&#10;&#10;AI-generated content may be incorrect.">
            <a:extLst>
              <a:ext uri="{FF2B5EF4-FFF2-40B4-BE49-F238E27FC236}">
                <a16:creationId xmlns:a16="http://schemas.microsoft.com/office/drawing/2014/main" id="{63A25155-A783-C1BA-C9E7-811CFA258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913" y="2991854"/>
            <a:ext cx="6628173" cy="2767262"/>
          </a:xfrm>
        </p:spPr>
      </p:pic>
    </p:spTree>
    <p:extLst>
      <p:ext uri="{BB962C8B-B14F-4D97-AF65-F5344CB8AC3E}">
        <p14:creationId xmlns:p14="http://schemas.microsoft.com/office/powerpoint/2010/main" val="206292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1CDA-5576-C0F6-8D0A-BE18DFA0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565150"/>
            <a:ext cx="4419600" cy="1325563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Resampling</a:t>
            </a:r>
          </a:p>
        </p:txBody>
      </p:sp>
      <p:pic>
        <p:nvPicPr>
          <p:cNvPr id="5" name="Content Placeholder 4" descr="A screenshot of a computer generated image">
            <a:extLst>
              <a:ext uri="{FF2B5EF4-FFF2-40B4-BE49-F238E27FC236}">
                <a16:creationId xmlns:a16="http://schemas.microsoft.com/office/drawing/2014/main" id="{8E0F2059-6070-4538-3E4E-E815AC435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1241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FFBE723-DEE2-29D2-F050-42EF98ABA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AEC55FF-3933-6D5D-72AE-8B04DE90F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032" y="5340699"/>
            <a:ext cx="544453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normalizeH="0" baseline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Low contrast: Image looks dull and flat.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High contrast: Image looks vivid and clear.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normalizeH="0" baseline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C1F609-60FB-498B-B20D-16E2A0CD85C6}"/>
              </a:ext>
            </a:extLst>
          </p:cNvPr>
          <p:cNvSpPr txBox="1"/>
          <p:nvPr/>
        </p:nvSpPr>
        <p:spPr>
          <a:xfrm>
            <a:off x="564382" y="386541"/>
            <a:ext cx="1947706" cy="5232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Contrast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A1BFA-9A36-8ACF-65BF-C451280FA59A}"/>
              </a:ext>
            </a:extLst>
          </p:cNvPr>
          <p:cNvSpPr txBox="1"/>
          <p:nvPr/>
        </p:nvSpPr>
        <p:spPr>
          <a:xfrm>
            <a:off x="1066800" y="1517301"/>
            <a:ext cx="9674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4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Difference between the brightest and darkest parts of an image.</a:t>
            </a:r>
          </a:p>
          <a:p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3" name="Content Placeholder 12" descr="A comparison of blue flowers&#10;&#10;AI-generated content may be incorrect.">
            <a:extLst>
              <a:ext uri="{FF2B5EF4-FFF2-40B4-BE49-F238E27FC236}">
                <a16:creationId xmlns:a16="http://schemas.microsoft.com/office/drawing/2014/main" id="{7735DC30-76F9-C638-0C7D-DFB326C2D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580" y="2237859"/>
            <a:ext cx="6582723" cy="3223729"/>
          </a:xfrm>
        </p:spPr>
      </p:pic>
    </p:spTree>
    <p:extLst>
      <p:ext uri="{BB962C8B-B14F-4D97-AF65-F5344CB8AC3E}">
        <p14:creationId xmlns:p14="http://schemas.microsoft.com/office/powerpoint/2010/main" val="380834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290B5-C8C2-798E-1119-C4B8038B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 descr="A comparison of a person">
            <a:extLst>
              <a:ext uri="{FF2B5EF4-FFF2-40B4-BE49-F238E27FC236}">
                <a16:creationId xmlns:a16="http://schemas.microsoft.com/office/drawing/2014/main" id="{8EDB50E5-3E28-0054-BE7E-C3937219A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9939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a person holding a baby&#10;&#10;AI-generated content may be incorrect.">
            <a:extLst>
              <a:ext uri="{FF2B5EF4-FFF2-40B4-BE49-F238E27FC236}">
                <a16:creationId xmlns:a16="http://schemas.microsoft.com/office/drawing/2014/main" id="{4507026B-5C7E-7FE6-742D-A993A5F34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31" y="755832"/>
            <a:ext cx="7276138" cy="3655393"/>
          </a:xfrm>
        </p:spPr>
      </p:pic>
      <p:pic>
        <p:nvPicPr>
          <p:cNvPr id="7" name="Picture 6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9EC777ED-AC0B-6139-56FB-BEC2F3784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32" y="4623583"/>
            <a:ext cx="5179468" cy="14546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Picture 8" descr="A number and mathematical symbols&#10;&#10;AI-generated content may be incorrect.">
            <a:extLst>
              <a:ext uri="{FF2B5EF4-FFF2-40B4-BE49-F238E27FC236}">
                <a16:creationId xmlns:a16="http://schemas.microsoft.com/office/drawing/2014/main" id="{9F401FF8-28AE-19AA-414A-317194ECA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51" y="4647567"/>
            <a:ext cx="5179467" cy="145460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7364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6B5028-3017-0E28-BAB4-76F557DF6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80" y="1484964"/>
            <a:ext cx="8750440" cy="47601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DD3C26-BFED-006A-649D-9021D1578453}"/>
              </a:ext>
            </a:extLst>
          </p:cNvPr>
          <p:cNvSpPr txBox="1"/>
          <p:nvPr/>
        </p:nvSpPr>
        <p:spPr>
          <a:xfrm>
            <a:off x="884255" y="490976"/>
            <a:ext cx="4149969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Convolution</a:t>
            </a:r>
          </a:p>
        </p:txBody>
      </p:sp>
    </p:spTree>
    <p:extLst>
      <p:ext uri="{BB962C8B-B14F-4D97-AF65-F5344CB8AC3E}">
        <p14:creationId xmlns:p14="http://schemas.microsoft.com/office/powerpoint/2010/main" val="195733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 of a computer code&#10;&#10;AI-generated content may be incorrect.">
            <a:extLst>
              <a:ext uri="{FF2B5EF4-FFF2-40B4-BE49-F238E27FC236}">
                <a16:creationId xmlns:a16="http://schemas.microsoft.com/office/drawing/2014/main" id="{0B33883D-C5AD-9FFC-F83F-76C59F5BB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95" y="689969"/>
            <a:ext cx="7807545" cy="5545462"/>
          </a:xfr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25901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48630D-7EFD-CB6B-A710-2F020BD0C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911" y="577461"/>
            <a:ext cx="6547812" cy="36166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F99AE-1356-33C7-D3B3-0218D454733D}"/>
              </a:ext>
            </a:extLst>
          </p:cNvPr>
          <p:cNvSpPr txBox="1"/>
          <p:nvPr/>
        </p:nvSpPr>
        <p:spPr>
          <a:xfrm>
            <a:off x="411983" y="441488"/>
            <a:ext cx="1748413" cy="7837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Filter</a:t>
            </a:r>
          </a:p>
        </p:txBody>
      </p:sp>
      <p:pic>
        <p:nvPicPr>
          <p:cNvPr id="8" name="Picture 7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2C58867A-8AE3-A3E8-4DD7-35BB4B863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911" y="4279133"/>
            <a:ext cx="5659289" cy="239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4A2EAF01-99EF-5F5E-A303-9863BFFE8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91" y="442126"/>
            <a:ext cx="11475218" cy="5737609"/>
          </a:xfrm>
        </p:spPr>
      </p:pic>
    </p:spTree>
    <p:extLst>
      <p:ext uri="{BB962C8B-B14F-4D97-AF65-F5344CB8AC3E}">
        <p14:creationId xmlns:p14="http://schemas.microsoft.com/office/powerpoint/2010/main" val="14215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D56A1-34CF-C37A-1282-AD45900B1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person's eyes&#10;&#10;AI-generated content may be incorrect.">
            <a:extLst>
              <a:ext uri="{FF2B5EF4-FFF2-40B4-BE49-F238E27FC236}">
                <a16:creationId xmlns:a16="http://schemas.microsoft.com/office/drawing/2014/main" id="{32923E08-4E18-41C0-A0EB-87DABC99E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89" y="277687"/>
            <a:ext cx="11450126" cy="6502491"/>
          </a:xfrm>
        </p:spPr>
      </p:pic>
    </p:spTree>
    <p:extLst>
      <p:ext uri="{BB962C8B-B14F-4D97-AF65-F5344CB8AC3E}">
        <p14:creationId xmlns:p14="http://schemas.microsoft.com/office/powerpoint/2010/main" val="11830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CAEF-ADE9-2E6D-B060-AA0105BD5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076" y="3102071"/>
            <a:ext cx="3241431" cy="2062478"/>
          </a:xfrm>
        </p:spPr>
        <p:txBody>
          <a:bodyPr>
            <a:noAutofit/>
          </a:bodyPr>
          <a:lstStyle/>
          <a:p>
            <a:b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Sources: </a:t>
            </a:r>
            <a:b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_Sensor errors</a:t>
            </a:r>
            <a:b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_transmission</a:t>
            </a:r>
            <a:b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_compression</a:t>
            </a:r>
            <a:b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Content Placeholder 4" descr="A person using a tripod&#10;&#10;AI-generated content may be incorrect.">
            <a:extLst>
              <a:ext uri="{FF2B5EF4-FFF2-40B4-BE49-F238E27FC236}">
                <a16:creationId xmlns:a16="http://schemas.microsoft.com/office/drawing/2014/main" id="{194BD67A-1A6F-E963-D351-747B12E27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050" y="2810669"/>
            <a:ext cx="3429000" cy="35179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7FED32-0B6A-8D11-A07C-5215A2E1B0B7}"/>
              </a:ext>
            </a:extLst>
          </p:cNvPr>
          <p:cNvSpPr txBox="1"/>
          <p:nvPr/>
        </p:nvSpPr>
        <p:spPr>
          <a:xfrm>
            <a:off x="767861" y="401934"/>
            <a:ext cx="3898761" cy="64633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Noise in Images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D3257-C3D5-7AE7-8370-0D0AB2F72F63}"/>
              </a:ext>
            </a:extLst>
          </p:cNvPr>
          <p:cNvSpPr txBox="1"/>
          <p:nvPr/>
        </p:nvSpPr>
        <p:spPr>
          <a:xfrm>
            <a:off x="1055076" y="1286189"/>
            <a:ext cx="75865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Definition: </a:t>
            </a:r>
            <a:b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Unwanted random variations in pixel values </a:t>
            </a:r>
          </a:p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that degrade image quality.</a:t>
            </a:r>
            <a:b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226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31DA-E43E-88AB-12E6-AE829647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e and white sign">
            <a:extLst>
              <a:ext uri="{FF2B5EF4-FFF2-40B4-BE49-F238E27FC236}">
                <a16:creationId xmlns:a16="http://schemas.microsoft.com/office/drawing/2014/main" id="{E64F836C-896F-8C8A-1698-346F9592D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5461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B1F8-B8AF-B74B-9363-7B8A4BD6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70125" cy="1325563"/>
          </a:xfrm>
        </p:spPr>
        <p:txBody>
          <a:bodyPr/>
          <a:lstStyle/>
          <a:p>
            <a:r>
              <a:rPr lang="en-US" dirty="0"/>
              <a:t>1.Gaussian</a:t>
            </a:r>
          </a:p>
        </p:txBody>
      </p:sp>
      <p:pic>
        <p:nvPicPr>
          <p:cNvPr id="5" name="Content Placeholder 4" descr="A diagram of a normal distribution">
            <a:extLst>
              <a:ext uri="{FF2B5EF4-FFF2-40B4-BE49-F238E27FC236}">
                <a16:creationId xmlns:a16="http://schemas.microsoft.com/office/drawing/2014/main" id="{F53681D7-BD3D-B8D6-1B1C-BC352C1CC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296" y="440131"/>
            <a:ext cx="4865601" cy="298886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900C29-24D0-1D9E-81A8-FBEF98538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785" y="1690688"/>
            <a:ext cx="3409525" cy="4657411"/>
          </a:xfrm>
          <a:prstGeom prst="rect">
            <a:avLst/>
          </a:prstGeom>
        </p:spPr>
      </p:pic>
      <p:pic>
        <p:nvPicPr>
          <p:cNvPr id="11" name="Picture 10" descr="A collage of a person standing next to a person standing in a field&#10;&#10;AI-generated content may be incorrect.">
            <a:extLst>
              <a:ext uri="{FF2B5EF4-FFF2-40B4-BE49-F238E27FC236}">
                <a16:creationId xmlns:a16="http://schemas.microsoft.com/office/drawing/2014/main" id="{E6AC4A06-9075-DAE3-9F87-D94B04530E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270" y="3429000"/>
            <a:ext cx="6067582" cy="268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0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2428-CA1D-B0CE-8C51-884142F3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2.Salt and Pepper</a:t>
            </a:r>
          </a:p>
        </p:txBody>
      </p:sp>
      <p:pic>
        <p:nvPicPr>
          <p:cNvPr id="5" name="Content Placeholder 4" descr="A tiger in the water&#10;&#10;AI-generated content may be incorrect.">
            <a:extLst>
              <a:ext uri="{FF2B5EF4-FFF2-40B4-BE49-F238E27FC236}">
                <a16:creationId xmlns:a16="http://schemas.microsoft.com/office/drawing/2014/main" id="{3C58BA7F-7587-A1EC-A65F-0ABE4A84E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4739525" cy="3153938"/>
          </a:xfrm>
        </p:spPr>
      </p:pic>
      <p:pic>
        <p:nvPicPr>
          <p:cNvPr id="7" name="Picture 6" descr="A close-up of a glass object&#10;&#10;AI-generated content may be incorrect.">
            <a:extLst>
              <a:ext uri="{FF2B5EF4-FFF2-40B4-BE49-F238E27FC236}">
                <a16:creationId xmlns:a16="http://schemas.microsoft.com/office/drawing/2014/main" id="{1703D243-D3F8-DFA1-0816-5B2937250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259" y="631308"/>
            <a:ext cx="4183464" cy="5595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452CE1-EE57-324B-A563-65BD39D48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329" y="4992870"/>
            <a:ext cx="1794791" cy="179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9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F89D-5585-50D9-4CBF-4D2DB398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3.Speckle</a:t>
            </a:r>
          </a:p>
        </p:txBody>
      </p:sp>
      <p:pic>
        <p:nvPicPr>
          <p:cNvPr id="5" name="Content Placeholder 4" descr="A close-up of a person&#10;&#10;AI-generated content may be incorrect.">
            <a:extLst>
              <a:ext uri="{FF2B5EF4-FFF2-40B4-BE49-F238E27FC236}">
                <a16:creationId xmlns:a16="http://schemas.microsoft.com/office/drawing/2014/main" id="{0B4346F1-5404-9F74-A245-F9E989704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1" y="0"/>
            <a:ext cx="6943679" cy="5207759"/>
          </a:xfrm>
        </p:spPr>
      </p:pic>
      <p:pic>
        <p:nvPicPr>
          <p:cNvPr id="7" name="Picture 6" descr="A person in a hat&#10;&#10;AI-generated content may be incorrect.">
            <a:extLst>
              <a:ext uri="{FF2B5EF4-FFF2-40B4-BE49-F238E27FC236}">
                <a16:creationId xmlns:a16="http://schemas.microsoft.com/office/drawing/2014/main" id="{EFD20319-E8B0-3570-CCAC-AF1186243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38" y="2877006"/>
            <a:ext cx="6104735" cy="322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9E5D-4342-6D8A-E316-FCE0D6FC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4.Fixed Pattern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74C45DB-1923-932B-AB96-05C7D46E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130" y="365125"/>
            <a:ext cx="7636747" cy="2590583"/>
          </a:xfrm>
          <a:prstGeom prst="rect">
            <a:avLst/>
          </a:prstGeom>
        </p:spPr>
      </p:pic>
      <p:pic>
        <p:nvPicPr>
          <p:cNvPr id="7" name="Picture 6" descr="A comparison of a pattern number&#10;&#10;AI-generated content may be incorrect.">
            <a:extLst>
              <a:ext uri="{FF2B5EF4-FFF2-40B4-BE49-F238E27FC236}">
                <a16:creationId xmlns:a16="http://schemas.microsoft.com/office/drawing/2014/main" id="{5687EB5D-D14D-16C7-3293-2E8A1633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88" y="3065976"/>
            <a:ext cx="5522211" cy="3636324"/>
          </a:xfrm>
          <a:prstGeom prst="rect">
            <a:avLst/>
          </a:prstGeom>
        </p:spPr>
      </p:pic>
      <p:pic>
        <p:nvPicPr>
          <p:cNvPr id="9" name="Picture 8" descr="A close-up of a hand&#10;&#10;AI-generated content may be incorrect.">
            <a:extLst>
              <a:ext uri="{FF2B5EF4-FFF2-40B4-BE49-F238E27FC236}">
                <a16:creationId xmlns:a16="http://schemas.microsoft.com/office/drawing/2014/main" id="{8C5DC0CD-EF69-2E90-5A9D-ED1DE8087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315" y="3736375"/>
            <a:ext cx="61912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4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flowers">
            <a:extLst>
              <a:ext uri="{FF2B5EF4-FFF2-40B4-BE49-F238E27FC236}">
                <a16:creationId xmlns:a16="http://schemas.microsoft.com/office/drawing/2014/main" id="{E6EA065A-42CF-B5D8-6F7B-B80580124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5762"/>
          </a:xfrm>
        </p:spPr>
      </p:pic>
    </p:spTree>
    <p:extLst>
      <p:ext uri="{BB962C8B-B14F-4D97-AF65-F5344CB8AC3E}">
        <p14:creationId xmlns:p14="http://schemas.microsoft.com/office/powerpoint/2010/main" val="407390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F6B9-7A72-AF81-59D0-313E69F6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117" y="2889115"/>
            <a:ext cx="7449766" cy="1369675"/>
          </a:xfr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6000" b="1" dirty="0">
                <a:ln/>
                <a:solidFill>
                  <a:schemeClr val="accent3"/>
                </a:solidFill>
                <a:latin typeface="Century Gothic" panose="020B0502020202020204" pitchFamily="34" charset="0"/>
              </a:rPr>
              <a:t>Denoising Kernels</a:t>
            </a:r>
          </a:p>
        </p:txBody>
      </p:sp>
    </p:spTree>
    <p:extLst>
      <p:ext uri="{BB962C8B-B14F-4D97-AF65-F5344CB8AC3E}">
        <p14:creationId xmlns:p14="http://schemas.microsoft.com/office/powerpoint/2010/main" val="313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BDDC-FA8C-9485-3C43-CDC9A23F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AD62C0-ACC8-DFEC-6160-AE6618359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49"/>
            <a:ext cx="12192000" cy="6762751"/>
          </a:xfrm>
        </p:spPr>
      </p:pic>
    </p:spTree>
    <p:extLst>
      <p:ext uri="{BB962C8B-B14F-4D97-AF65-F5344CB8AC3E}">
        <p14:creationId xmlns:p14="http://schemas.microsoft.com/office/powerpoint/2010/main" val="296909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5FBB-14FF-9AEC-9C85-7FCC46E5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66A397-9226-6D04-3113-20480A1FA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213518"/>
            <a:ext cx="11963400" cy="6644482"/>
          </a:xfrm>
        </p:spPr>
      </p:pic>
    </p:spTree>
    <p:extLst>
      <p:ext uri="{BB962C8B-B14F-4D97-AF65-F5344CB8AC3E}">
        <p14:creationId xmlns:p14="http://schemas.microsoft.com/office/powerpoint/2010/main" val="190856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EC24-F7F8-8397-B085-E4542C0A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diagram">
            <a:extLst>
              <a:ext uri="{FF2B5EF4-FFF2-40B4-BE49-F238E27FC236}">
                <a16:creationId xmlns:a16="http://schemas.microsoft.com/office/drawing/2014/main" id="{2FC3979A-52FE-21F8-92BB-150F627B1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F684AC-A6BB-9CA2-AF5E-9FFB730E52E9}"/>
              </a:ext>
            </a:extLst>
          </p:cNvPr>
          <p:cNvSpPr txBox="1"/>
          <p:nvPr/>
        </p:nvSpPr>
        <p:spPr>
          <a:xfrm>
            <a:off x="838200" y="288924"/>
            <a:ext cx="1051560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</a:rPr>
              <a:t>Median Filter</a:t>
            </a:r>
          </a:p>
        </p:txBody>
      </p:sp>
    </p:spTree>
    <p:extLst>
      <p:ext uri="{BB962C8B-B14F-4D97-AF65-F5344CB8AC3E}">
        <p14:creationId xmlns:p14="http://schemas.microsoft.com/office/powerpoint/2010/main" val="405626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white background with black text">
            <a:extLst>
              <a:ext uri="{FF2B5EF4-FFF2-40B4-BE49-F238E27FC236}">
                <a16:creationId xmlns:a16="http://schemas.microsoft.com/office/drawing/2014/main" id="{84312775-D3A5-4FDE-3F6C-0D27D472F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77" y="221456"/>
            <a:ext cx="11507821" cy="6636544"/>
          </a:xfrm>
        </p:spPr>
      </p:pic>
    </p:spTree>
    <p:extLst>
      <p:ext uri="{BB962C8B-B14F-4D97-AF65-F5344CB8AC3E}">
        <p14:creationId xmlns:p14="http://schemas.microsoft.com/office/powerpoint/2010/main" val="101409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function">
            <a:extLst>
              <a:ext uri="{FF2B5EF4-FFF2-40B4-BE49-F238E27FC236}">
                <a16:creationId xmlns:a16="http://schemas.microsoft.com/office/drawing/2014/main" id="{6B4B49B1-51C6-632D-4E42-E6B497513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9" y="1445671"/>
            <a:ext cx="6705601" cy="50292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46A180-76AE-EEFA-5BCD-7FDF811627A1}"/>
              </a:ext>
            </a:extLst>
          </p:cNvPr>
          <p:cNvSpPr txBox="1"/>
          <p:nvPr/>
        </p:nvSpPr>
        <p:spPr>
          <a:xfrm>
            <a:off x="838200" y="288924"/>
            <a:ext cx="1051560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</a:rPr>
              <a:t>Gaussian Filter</a:t>
            </a:r>
          </a:p>
        </p:txBody>
      </p:sp>
    </p:spTree>
    <p:extLst>
      <p:ext uri="{BB962C8B-B14F-4D97-AF65-F5344CB8AC3E}">
        <p14:creationId xmlns:p14="http://schemas.microsoft.com/office/powerpoint/2010/main" val="328865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B3F9F3-F6EB-1C32-FA8D-4905135E6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782" y="2445326"/>
            <a:ext cx="8970908" cy="307121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CBA384-049C-68DA-489C-63BABF714073}"/>
              </a:ext>
            </a:extLst>
          </p:cNvPr>
          <p:cNvSpPr txBox="1"/>
          <p:nvPr/>
        </p:nvSpPr>
        <p:spPr>
          <a:xfrm>
            <a:off x="3194765" y="1075173"/>
            <a:ext cx="530614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</a:rPr>
              <a:t>Gaussian kernels</a:t>
            </a:r>
          </a:p>
        </p:txBody>
      </p:sp>
    </p:spTree>
    <p:extLst>
      <p:ext uri="{BB962C8B-B14F-4D97-AF65-F5344CB8AC3E}">
        <p14:creationId xmlns:p14="http://schemas.microsoft.com/office/powerpoint/2010/main" val="129739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1714A9-7CA1-EBDB-7930-C27D7823A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21" y="268874"/>
            <a:ext cx="10042358" cy="5971505"/>
          </a:xfrm>
        </p:spPr>
      </p:pic>
    </p:spTree>
    <p:extLst>
      <p:ext uri="{BB962C8B-B14F-4D97-AF65-F5344CB8AC3E}">
        <p14:creationId xmlns:p14="http://schemas.microsoft.com/office/powerpoint/2010/main" val="121762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7F74-541D-86FA-7C6D-032701AF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525" y="725049"/>
            <a:ext cx="8240949" cy="782739"/>
          </a:xfrm>
        </p:spPr>
        <p:txBody>
          <a:bodyPr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Dilation and Erosion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A8384D-77BB-15DF-D2C9-893FC0539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48600"/>
            <a:ext cx="10515600" cy="3105388"/>
          </a:xfrm>
        </p:spPr>
      </p:pic>
    </p:spTree>
    <p:extLst>
      <p:ext uri="{BB962C8B-B14F-4D97-AF65-F5344CB8AC3E}">
        <p14:creationId xmlns:p14="http://schemas.microsoft.com/office/powerpoint/2010/main" val="331620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black and white background with text and numbers">
            <a:extLst>
              <a:ext uri="{FF2B5EF4-FFF2-40B4-BE49-F238E27FC236}">
                <a16:creationId xmlns:a16="http://schemas.microsoft.com/office/drawing/2014/main" id="{7C39837C-A7B3-2B8A-CCDD-075B545FF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65144"/>
          </a:xfrm>
        </p:spPr>
      </p:pic>
    </p:spTree>
    <p:extLst>
      <p:ext uri="{BB962C8B-B14F-4D97-AF65-F5344CB8AC3E}">
        <p14:creationId xmlns:p14="http://schemas.microsoft.com/office/powerpoint/2010/main" val="292275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AC26-A5A0-F4FC-3D36-2E8F43B89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flower">
            <a:extLst>
              <a:ext uri="{FF2B5EF4-FFF2-40B4-BE49-F238E27FC236}">
                <a16:creationId xmlns:a16="http://schemas.microsoft.com/office/drawing/2014/main" id="{B83154BC-7299-C727-7A16-7310F591A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8"/>
            <a:ext cx="12192000" cy="68585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4B9F8A-3A24-4AD8-632F-90D0808E5835}"/>
              </a:ext>
            </a:extLst>
          </p:cNvPr>
          <p:cNvSpPr txBox="1"/>
          <p:nvPr/>
        </p:nvSpPr>
        <p:spPr>
          <a:xfrm>
            <a:off x="10097729" y="5987845"/>
            <a:ext cx="1858297" cy="505030"/>
          </a:xfrm>
          <a:prstGeom prst="rect">
            <a:avLst/>
          </a:prstGeom>
          <a:solidFill>
            <a:srgbClr val="650DD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51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B1C1-BC30-E69A-A445-D895D774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erson with a black background and a black and white picture of a person&#10;&#10;AI-generated content may be incorrect.">
            <a:extLst>
              <a:ext uri="{FF2B5EF4-FFF2-40B4-BE49-F238E27FC236}">
                <a16:creationId xmlns:a16="http://schemas.microsoft.com/office/drawing/2014/main" id="{E4769EA3-F900-9968-2B12-500CF8033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</p:spPr>
      </p:pic>
    </p:spTree>
    <p:extLst>
      <p:ext uri="{BB962C8B-B14F-4D97-AF65-F5344CB8AC3E}">
        <p14:creationId xmlns:p14="http://schemas.microsoft.com/office/powerpoint/2010/main" val="274590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21E9-46E5-2889-DBD6-38FD29C7F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9BAC45B-01EA-5C34-1CCB-9A7485576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65144"/>
          </a:xfrm>
        </p:spPr>
      </p:pic>
    </p:spTree>
    <p:extLst>
      <p:ext uri="{BB962C8B-B14F-4D97-AF65-F5344CB8AC3E}">
        <p14:creationId xmlns:p14="http://schemas.microsoft.com/office/powerpoint/2010/main" val="154035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EB3D7-740C-C0D3-CC03-A96572ED6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paper with black text and black text">
            <a:extLst>
              <a:ext uri="{FF2B5EF4-FFF2-40B4-BE49-F238E27FC236}">
                <a16:creationId xmlns:a16="http://schemas.microsoft.com/office/drawing/2014/main" id="{903771AF-53C6-659B-9FC7-4ABE0E859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6711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5B19-8EE2-E8EA-48A2-F0489919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616" y="411878"/>
            <a:ext cx="3934767" cy="1413747"/>
          </a:xfrm>
        </p:spPr>
        <p:txBody>
          <a:bodyPr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Edge Detectors</a:t>
            </a:r>
          </a:p>
        </p:txBody>
      </p:sp>
      <p:pic>
        <p:nvPicPr>
          <p:cNvPr id="6" name="Picture 5" descr="A diagram of a system">
            <a:extLst>
              <a:ext uri="{FF2B5EF4-FFF2-40B4-BE49-F238E27FC236}">
                <a16:creationId xmlns:a16="http://schemas.microsoft.com/office/drawing/2014/main" id="{E8568F6A-AFCC-7FF6-05CB-23E5C700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79" y="1288025"/>
            <a:ext cx="5024286" cy="5158097"/>
          </a:xfrm>
          <a:prstGeom prst="rect">
            <a:avLst/>
          </a:prstGeom>
        </p:spPr>
      </p:pic>
      <p:pic>
        <p:nvPicPr>
          <p:cNvPr id="8" name="Picture 7" descr="A group of masks with numbers&#10;&#10;AI-generated content may be incorrect.">
            <a:extLst>
              <a:ext uri="{FF2B5EF4-FFF2-40B4-BE49-F238E27FC236}">
                <a16:creationId xmlns:a16="http://schemas.microsoft.com/office/drawing/2014/main" id="{97A6A2FE-3A48-B7C1-6290-EE7786902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71392"/>
            <a:ext cx="5781369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0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1A40-1E0E-2732-3532-64832978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36" y="885776"/>
            <a:ext cx="3714135" cy="781611"/>
          </a:xfrm>
        </p:spPr>
        <p:txBody>
          <a:bodyPr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Roberts</a:t>
            </a:r>
          </a:p>
        </p:txBody>
      </p:sp>
      <p:pic>
        <p:nvPicPr>
          <p:cNvPr id="5" name="Content Placeholder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A4B2CAD-DA80-97CB-DAD1-1358A52D7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614" y="1038124"/>
            <a:ext cx="3952875" cy="1838325"/>
          </a:xfrm>
        </p:spPr>
      </p:pic>
      <p:pic>
        <p:nvPicPr>
          <p:cNvPr id="7" name="Picture 6" descr="A close-up of a picture&#10;&#10;AI-generated content may be incorrect.">
            <a:extLst>
              <a:ext uri="{FF2B5EF4-FFF2-40B4-BE49-F238E27FC236}">
                <a16:creationId xmlns:a16="http://schemas.microsoft.com/office/drawing/2014/main" id="{7D87BB5A-7074-AF6D-4FB6-BCE9CBBEE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863" y="3429000"/>
            <a:ext cx="8128074" cy="303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2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B0A8-EB98-BCD4-8051-EF581F9E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471A51AF-5E14-C7C2-DBAA-13884400C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052" cy="6858000"/>
          </a:xfrm>
        </p:spPr>
      </p:pic>
    </p:spTree>
    <p:extLst>
      <p:ext uri="{BB962C8B-B14F-4D97-AF65-F5344CB8AC3E}">
        <p14:creationId xmlns:p14="http://schemas.microsoft.com/office/powerpoint/2010/main" val="373237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EBC2-F85E-B9FA-E5BE-3DAF9CE2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A811AE2B-5310-9201-ED95-D87066B2A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01565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4D025-DD1C-643A-C89F-60C77629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screenshot of a computer">
            <a:extLst>
              <a:ext uri="{FF2B5EF4-FFF2-40B4-BE49-F238E27FC236}">
                <a16:creationId xmlns:a16="http://schemas.microsoft.com/office/drawing/2014/main" id="{0345CCBA-E1AD-72B8-8A1E-C5337CEAC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42476" cy="6858001"/>
          </a:xfrm>
        </p:spPr>
      </p:pic>
    </p:spTree>
    <p:extLst>
      <p:ext uri="{BB962C8B-B14F-4D97-AF65-F5344CB8AC3E}">
        <p14:creationId xmlns:p14="http://schemas.microsoft.com/office/powerpoint/2010/main" val="40224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8FC6-65E7-7E00-4563-965431E8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577796-00E9-2F94-E7BA-EA21AAC1F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5052"/>
          </a:xfrm>
        </p:spPr>
      </p:pic>
    </p:spTree>
    <p:extLst>
      <p:ext uri="{BB962C8B-B14F-4D97-AF65-F5344CB8AC3E}">
        <p14:creationId xmlns:p14="http://schemas.microsoft.com/office/powerpoint/2010/main" val="353510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13C9-B17B-FC3D-BD32-020730DC2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house">
            <a:extLst>
              <a:ext uri="{FF2B5EF4-FFF2-40B4-BE49-F238E27FC236}">
                <a16:creationId xmlns:a16="http://schemas.microsoft.com/office/drawing/2014/main" id="{322F96BF-6A60-ECF7-D81A-FCEB7A84D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3790"/>
          </a:xfrm>
        </p:spPr>
      </p:pic>
    </p:spTree>
    <p:extLst>
      <p:ext uri="{BB962C8B-B14F-4D97-AF65-F5344CB8AC3E}">
        <p14:creationId xmlns:p14="http://schemas.microsoft.com/office/powerpoint/2010/main" val="234224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C311-B497-B1AF-E463-8D341811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578E20-D5D0-6FE8-EC64-59EC0D0D9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10483" cy="6858000"/>
          </a:xfrm>
        </p:spPr>
      </p:pic>
    </p:spTree>
    <p:extLst>
      <p:ext uri="{BB962C8B-B14F-4D97-AF65-F5344CB8AC3E}">
        <p14:creationId xmlns:p14="http://schemas.microsoft.com/office/powerpoint/2010/main" val="368589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63C2-71C7-3756-68CF-9DF54F2A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diagram of a diagram">
            <a:extLst>
              <a:ext uri="{FF2B5EF4-FFF2-40B4-BE49-F238E27FC236}">
                <a16:creationId xmlns:a16="http://schemas.microsoft.com/office/drawing/2014/main" id="{5DADD649-48B0-BB53-1F34-36A95CD2D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8546"/>
          </a:xfrm>
        </p:spPr>
      </p:pic>
    </p:spTree>
    <p:extLst>
      <p:ext uri="{BB962C8B-B14F-4D97-AF65-F5344CB8AC3E}">
        <p14:creationId xmlns:p14="http://schemas.microsoft.com/office/powerpoint/2010/main" val="218965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BD90-978F-301E-112E-6529D0A2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oup of buildings with towers">
            <a:extLst>
              <a:ext uri="{FF2B5EF4-FFF2-40B4-BE49-F238E27FC236}">
                <a16:creationId xmlns:a16="http://schemas.microsoft.com/office/drawing/2014/main" id="{6FED0FC6-23DA-A057-A8B5-F87CC9B51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2566" cy="6858000"/>
          </a:xfrm>
        </p:spPr>
      </p:pic>
    </p:spTree>
    <p:extLst>
      <p:ext uri="{BB962C8B-B14F-4D97-AF65-F5344CB8AC3E}">
        <p14:creationId xmlns:p14="http://schemas.microsoft.com/office/powerpoint/2010/main" val="120702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E4E3-363D-EB81-5ED1-EB1855C1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house with many colored circles">
            <a:extLst>
              <a:ext uri="{FF2B5EF4-FFF2-40B4-BE49-F238E27FC236}">
                <a16:creationId xmlns:a16="http://schemas.microsoft.com/office/drawing/2014/main" id="{A9CF8CAC-53A1-E894-5DD6-9E9DB25D5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22204"/>
          </a:xfrm>
        </p:spPr>
      </p:pic>
    </p:spTree>
    <p:extLst>
      <p:ext uri="{BB962C8B-B14F-4D97-AF65-F5344CB8AC3E}">
        <p14:creationId xmlns:p14="http://schemas.microsoft.com/office/powerpoint/2010/main" val="129478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B14D-4504-9B5D-9853-0CCA51AF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indow with a window and a blue sky">
            <a:extLst>
              <a:ext uri="{FF2B5EF4-FFF2-40B4-BE49-F238E27FC236}">
                <a16:creationId xmlns:a16="http://schemas.microsoft.com/office/drawing/2014/main" id="{38F124CC-B7F0-7D0F-C265-8CD506469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5064"/>
          </a:xfrm>
        </p:spPr>
      </p:pic>
    </p:spTree>
    <p:extLst>
      <p:ext uri="{BB962C8B-B14F-4D97-AF65-F5344CB8AC3E}">
        <p14:creationId xmlns:p14="http://schemas.microsoft.com/office/powerpoint/2010/main" val="271518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9E66-BBED-89CB-11D6-298C4E67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house">
            <a:extLst>
              <a:ext uri="{FF2B5EF4-FFF2-40B4-BE49-F238E27FC236}">
                <a16:creationId xmlns:a16="http://schemas.microsoft.com/office/drawing/2014/main" id="{FD8000B0-0F69-461B-6107-785383A010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06503"/>
          </a:xfrm>
        </p:spPr>
      </p:pic>
    </p:spTree>
    <p:extLst>
      <p:ext uri="{BB962C8B-B14F-4D97-AF65-F5344CB8AC3E}">
        <p14:creationId xmlns:p14="http://schemas.microsoft.com/office/powerpoint/2010/main" val="371701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4876-3A2A-57F8-C2DF-386A4905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hand holding a bag">
            <a:extLst>
              <a:ext uri="{FF2B5EF4-FFF2-40B4-BE49-F238E27FC236}">
                <a16:creationId xmlns:a16="http://schemas.microsoft.com/office/drawing/2014/main" id="{EB00C326-FEAA-4F53-9244-0CD2814BF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77725" cy="6858000"/>
          </a:xfrm>
        </p:spPr>
      </p:pic>
    </p:spTree>
    <p:extLst>
      <p:ext uri="{BB962C8B-B14F-4D97-AF65-F5344CB8AC3E}">
        <p14:creationId xmlns:p14="http://schemas.microsoft.com/office/powerpoint/2010/main" val="232238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F327-6C62-4906-9F12-9C0FA36C4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ook on a bed">
            <a:extLst>
              <a:ext uri="{FF2B5EF4-FFF2-40B4-BE49-F238E27FC236}">
                <a16:creationId xmlns:a16="http://schemas.microsoft.com/office/drawing/2014/main" id="{4F94A76F-6A03-42DA-8101-E663592C8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</p:spPr>
      </p:pic>
    </p:spTree>
    <p:extLst>
      <p:ext uri="{BB962C8B-B14F-4D97-AF65-F5344CB8AC3E}">
        <p14:creationId xmlns:p14="http://schemas.microsoft.com/office/powerpoint/2010/main" val="174956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901950" y="714587"/>
            <a:ext cx="6388100" cy="861484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333" b="1" dirty="0">
                <a:ln/>
                <a:solidFill>
                  <a:schemeClr val="accent4"/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4059" y="3657153"/>
            <a:ext cx="478023" cy="478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999" y="1957032"/>
            <a:ext cx="1231151" cy="14719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3613071" y="2139016"/>
            <a:ext cx="3498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ontserrat ExtraBold" panose="00000900000000000000" pitchFamily="2" charset="0"/>
              </a:rPr>
              <a:t>Sayed Mostafa </a:t>
            </a:r>
            <a:r>
              <a:rPr lang="en-US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ontserrat ExtraBold" panose="00000900000000000000" pitchFamily="2" charset="0"/>
              </a:rPr>
              <a:t>Modaghegh</a:t>
            </a:r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Montserrat ExtraBold" panose="00000900000000000000" pitchFamily="2" charset="0"/>
            </a:endParaRPr>
          </a:p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3852082" y="3752934"/>
            <a:ext cx="4781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833" y="4345259"/>
            <a:ext cx="400111" cy="4001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06974" y="4345259"/>
            <a:ext cx="400109" cy="4001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4232187" y="4345259"/>
            <a:ext cx="4021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mostafa79modaqeq</a:t>
            </a: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186</Words>
  <Application>Microsoft Office PowerPoint</Application>
  <PresentationFormat>Widescreen</PresentationFormat>
  <Paragraphs>49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Arial</vt:lpstr>
      <vt:lpstr>Cascadia Mono SemiBold</vt:lpstr>
      <vt:lpstr>Century Gothic</vt:lpstr>
      <vt:lpstr>Monotype Corsiva</vt:lpstr>
      <vt:lpstr>Montserrat ExtraBold</vt:lpstr>
      <vt:lpstr>Office Theme</vt:lpstr>
      <vt:lpstr>PowerPoint Presentation</vt:lpstr>
      <vt:lpstr>PowerPoint Presentation</vt:lpstr>
      <vt:lpstr>An image is a two-dimensional (2D) representation  of a three-dimensional (3D) scene or reality.</vt:lpstr>
      <vt:lpstr>PowerPoint Presentation</vt:lpstr>
      <vt:lpstr>PowerPoint Presentation</vt:lpstr>
      <vt:lpstr>PowerPoint Presentation</vt:lpstr>
      <vt:lpstr>Basic types of images</vt:lpstr>
      <vt:lpstr>PowerPoint Presentation</vt:lpstr>
      <vt:lpstr>Grayscale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RGB to Grayscale</vt:lpstr>
      <vt:lpstr>PowerPoint Presentation</vt:lpstr>
      <vt:lpstr>PowerPoint Presentation</vt:lpstr>
      <vt:lpstr>PowerPoint Presentation</vt:lpstr>
      <vt:lpstr>Contrast Enhancement</vt:lpstr>
      <vt:lpstr>Denoising</vt:lpstr>
      <vt:lpstr>Resampling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Sources:  _Sensor errors _transmission _compression </vt:lpstr>
      <vt:lpstr>PowerPoint Presentation</vt:lpstr>
      <vt:lpstr>1.Gaussian</vt:lpstr>
      <vt:lpstr>2.Salt and Pepper</vt:lpstr>
      <vt:lpstr>3.Speckle</vt:lpstr>
      <vt:lpstr>4.Fixed Pattern</vt:lpstr>
      <vt:lpstr>PowerPoint Presentation</vt:lpstr>
      <vt:lpstr>Denoising Kernels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Dilation and Erosion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Edge Detectors</vt:lpstr>
      <vt:lpstr>Roberts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Mostafi</dc:creator>
  <cp:lastModifiedBy>Mostafi</cp:lastModifiedBy>
  <cp:revision>22</cp:revision>
  <dcterms:created xsi:type="dcterms:W3CDTF">2025-10-08T11:59:16Z</dcterms:created>
  <dcterms:modified xsi:type="dcterms:W3CDTF">2025-10-22T06:58:00Z</dcterms:modified>
</cp:coreProperties>
</file>